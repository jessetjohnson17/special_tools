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8" r:id="rId3"/>
    <p:sldId id="261" r:id="rId4"/>
    <p:sldId id="257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>
        <p:scale>
          <a:sx n="100" d="100"/>
          <a:sy n="100" d="100"/>
        </p:scale>
        <p:origin x="50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7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75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1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0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52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8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3DFAE3-14DB-48A7-A80F-80DDB072CE3D}" type="datetime1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5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2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0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4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F45AC6-C491-4585-A584-9CE2AF7D5500}" type="datetime1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1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ick figure families holding hands">
            <a:extLst>
              <a:ext uri="{FF2B5EF4-FFF2-40B4-BE49-F238E27FC236}">
                <a16:creationId xmlns:a16="http://schemas.microsoft.com/office/drawing/2014/main" id="{D48DA71E-B1D2-5751-2A93-4D8182F6DF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598" b="513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36BD39-EBBF-6C62-8F84-DC46E20E5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2573" y="930152"/>
            <a:ext cx="4327477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“Volunteers”</a:t>
            </a:r>
            <a:br>
              <a:rPr lang="en-US" sz="5400" dirty="0">
                <a:solidFill>
                  <a:srgbClr val="FFFFFF"/>
                </a:solidFill>
              </a:rPr>
            </a:b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A2853-76DD-8092-81CD-81F33554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3523" y="360978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Resource Allocation for anti-terrorism efforts</a:t>
            </a:r>
          </a:p>
          <a:p>
            <a:r>
              <a:rPr lang="en-US" sz="2200" dirty="0">
                <a:solidFill>
                  <a:schemeClr val="bg1"/>
                </a:solidFill>
              </a:rPr>
              <a:t>Presented by the GUI Guys</a:t>
            </a:r>
          </a:p>
        </p:txBody>
      </p:sp>
    </p:spTree>
    <p:extLst>
      <p:ext uri="{BB962C8B-B14F-4D97-AF65-F5344CB8AC3E}">
        <p14:creationId xmlns:p14="http://schemas.microsoft.com/office/powerpoint/2010/main" val="2282375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6437-76ED-BA00-0BD5-BB6E8139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F17C1-F57F-76B3-BE7C-DC0859E60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*summarize dataset</a:t>
            </a:r>
          </a:p>
          <a:p>
            <a:r>
              <a:rPr lang="en-US" dirty="0"/>
              <a:t>*provide presentation Overview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Why do we care?</a:t>
            </a:r>
          </a:p>
        </p:txBody>
      </p:sp>
    </p:spTree>
    <p:extLst>
      <p:ext uri="{BB962C8B-B14F-4D97-AF65-F5344CB8AC3E}">
        <p14:creationId xmlns:p14="http://schemas.microsoft.com/office/powerpoint/2010/main" val="3338787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D252-8567-D447-3852-B54A736430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66800" y="238893"/>
            <a:ext cx="10058400" cy="89693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The Question: </a:t>
            </a:r>
            <a:r>
              <a:rPr lang="en-US" sz="4000" dirty="0"/>
              <a:t>How frequent are terrorism events?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99192-10DC-8DCF-D20A-047C0D39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68" y="1562533"/>
            <a:ext cx="5438775" cy="4314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71C586-BAAA-6751-8D7A-FA7C39D4C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743" y="1891144"/>
            <a:ext cx="6124932" cy="3657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E8DBE7-3954-E891-A778-46CF379D9F7B}"/>
              </a:ext>
            </a:extLst>
          </p:cNvPr>
          <p:cNvSpPr txBox="1"/>
          <p:nvPr/>
        </p:nvSpPr>
        <p:spPr>
          <a:xfrm>
            <a:off x="7894926" y="1583367"/>
            <a:ext cx="33725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Terrorism Event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315304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B9972B-F5B4-4607-3EC4-02DA17C10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16" y="1867196"/>
            <a:ext cx="4199346" cy="41233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CB428F-B14E-AF55-1810-E4CD10656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8950" y="1867196"/>
            <a:ext cx="3940734" cy="41233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0B15C4-BDD3-8F35-257B-D1F08EB6AF14}"/>
              </a:ext>
            </a:extLst>
          </p:cNvPr>
          <p:cNvSpPr txBox="1"/>
          <p:nvPr/>
        </p:nvSpPr>
        <p:spPr>
          <a:xfrm>
            <a:off x="4548554" y="1867196"/>
            <a:ext cx="34003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Dataset locations: North and South America</a:t>
            </a:r>
          </a:p>
          <a:p>
            <a:endParaRPr lang="en-US" dirty="0"/>
          </a:p>
          <a:p>
            <a:r>
              <a:rPr lang="en-US" dirty="0"/>
              <a:t>South America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7C96B37-8E6D-B007-71B0-CB0AB448164E}"/>
              </a:ext>
            </a:extLst>
          </p:cNvPr>
          <p:cNvSpPr txBox="1">
            <a:spLocks/>
          </p:cNvSpPr>
          <p:nvPr/>
        </p:nvSpPr>
        <p:spPr>
          <a:xfrm>
            <a:off x="1219552" y="269171"/>
            <a:ext cx="10058400" cy="8969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The Question: </a:t>
            </a:r>
            <a:r>
              <a:rPr lang="en-US" sz="4000" dirty="0"/>
              <a:t>Which areas see the most activity?</a:t>
            </a:r>
          </a:p>
        </p:txBody>
      </p:sp>
    </p:spTree>
    <p:extLst>
      <p:ext uri="{BB962C8B-B14F-4D97-AF65-F5344CB8AC3E}">
        <p14:creationId xmlns:p14="http://schemas.microsoft.com/office/powerpoint/2010/main" val="387838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E0CC-7F66-6138-C52C-ECB660BDB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53296"/>
          </a:xfrm>
        </p:spPr>
        <p:txBody>
          <a:bodyPr>
            <a:normAutofit/>
          </a:bodyPr>
          <a:lstStyle/>
          <a:p>
            <a:r>
              <a:rPr lang="en-US" dirty="0" err="1"/>
              <a:t>SHAP</a:t>
            </a:r>
            <a:r>
              <a:rPr lang="en-US" sz="1400" dirty="0" err="1"/>
              <a:t>iro</a:t>
            </a:r>
            <a:r>
              <a:rPr lang="en-US" sz="1400" dirty="0"/>
              <a:t>      </a:t>
            </a:r>
            <a:r>
              <a:rPr lang="en-US" dirty="0"/>
              <a:t>Fatality Influencers</a:t>
            </a:r>
            <a:br>
              <a:rPr lang="en-US" dirty="0"/>
            </a:br>
            <a:r>
              <a:rPr lang="en-US" sz="1300" dirty="0"/>
              <a:t>*Model = </a:t>
            </a:r>
            <a:r>
              <a:rPr lang="en-US" sz="1300" dirty="0" err="1"/>
              <a:t>RandomForestClassifer</a:t>
            </a:r>
            <a:r>
              <a:rPr lang="en-US" sz="1300" dirty="0"/>
              <a:t> (No matter how deep,  </a:t>
            </a:r>
            <a:r>
              <a:rPr lang="en-US" sz="1300" dirty="0" err="1"/>
              <a:t>SHAP</a:t>
            </a:r>
            <a:r>
              <a:rPr lang="en-US" sz="500" dirty="0" err="1"/>
              <a:t>iro</a:t>
            </a:r>
            <a:r>
              <a:rPr lang="en-US" sz="1300" dirty="0"/>
              <a:t> never split on the Left)</a:t>
            </a:r>
            <a:br>
              <a:rPr lang="en-US" dirty="0"/>
            </a:br>
            <a:endParaRPr lang="en-US" sz="1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3406A0-D671-304A-A2C1-E6BADA78A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4326"/>
          <a:stretch>
            <a:fillRect/>
          </a:stretch>
        </p:blipFill>
        <p:spPr>
          <a:xfrm>
            <a:off x="5920737" y="3150271"/>
            <a:ext cx="5026826" cy="2043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842527-86EE-DF12-1238-A11542B27E24}"/>
              </a:ext>
            </a:extLst>
          </p:cNvPr>
          <p:cNvSpPr txBox="1"/>
          <p:nvPr/>
        </p:nvSpPr>
        <p:spPr>
          <a:xfrm>
            <a:off x="6126480" y="5120641"/>
            <a:ext cx="420260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ß"/>
            </a:pPr>
            <a:r>
              <a:rPr lang="en-US" sz="1200" dirty="0">
                <a:sym typeface="Wingdings" panose="05000000000000000000" pitchFamily="2" charset="2"/>
              </a:rPr>
              <a:t>Lower odds of fatalities                Higher odds of fatalities   </a:t>
            </a:r>
          </a:p>
          <a:p>
            <a:pPr marL="285750" indent="-285750">
              <a:buFont typeface="Wingdings" panose="05000000000000000000" pitchFamily="2" charset="2"/>
              <a:buChar char="ß"/>
            </a:pP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8F4D9-6B11-1964-165F-5141F166AA51}"/>
              </a:ext>
            </a:extLst>
          </p:cNvPr>
          <p:cNvSpPr txBox="1"/>
          <p:nvPr/>
        </p:nvSpPr>
        <p:spPr>
          <a:xfrm>
            <a:off x="1720892" y="2536556"/>
            <a:ext cx="18337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Casualties by Month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A5D6A9-85F5-7C22-2D7B-CD7844175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68" y="2844333"/>
            <a:ext cx="3891087" cy="294387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9B2EA7-F881-119F-1A31-E57E8AB9671B}"/>
              </a:ext>
            </a:extLst>
          </p:cNvPr>
          <p:cNvCxnSpPr>
            <a:cxnSpLocks/>
          </p:cNvCxnSpPr>
          <p:nvPr/>
        </p:nvCxnSpPr>
        <p:spPr>
          <a:xfrm>
            <a:off x="8078504" y="3257928"/>
            <a:ext cx="0" cy="2140549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9F43656-97F4-474D-331E-D6B782386866}"/>
              </a:ext>
            </a:extLst>
          </p:cNvPr>
          <p:cNvSpPr txBox="1"/>
          <p:nvPr/>
        </p:nvSpPr>
        <p:spPr>
          <a:xfrm>
            <a:off x="10747375" y="3117841"/>
            <a:ext cx="6869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Numbers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5BB02A-E1AC-222B-5F8F-AD6DD88317B7}"/>
              </a:ext>
            </a:extLst>
          </p:cNvPr>
          <p:cNvSpPr txBox="1"/>
          <p:nvPr/>
        </p:nvSpPr>
        <p:spPr>
          <a:xfrm>
            <a:off x="10698612" y="4993683"/>
            <a:ext cx="6869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Numbers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6F7D4F-B821-3A13-6322-620F8CB651C2}"/>
              </a:ext>
            </a:extLst>
          </p:cNvPr>
          <p:cNvSpPr txBox="1"/>
          <p:nvPr/>
        </p:nvSpPr>
        <p:spPr>
          <a:xfrm>
            <a:off x="6739067" y="2657063"/>
            <a:ext cx="2977432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Factors that influence Fatalities in Terrorist Events</a:t>
            </a:r>
          </a:p>
          <a:p>
            <a:pPr algn="ctr"/>
            <a:r>
              <a:rPr lang="en-US" sz="1050" dirty="0"/>
              <a:t>(Most </a:t>
            </a:r>
            <a:r>
              <a:rPr lang="en-US" sz="1400" dirty="0"/>
              <a:t>important</a:t>
            </a:r>
            <a:r>
              <a:rPr lang="en-US" sz="1050" dirty="0"/>
              <a:t> to least important)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3D482A1-DF96-EB8B-0030-39D5CD724007}"/>
              </a:ext>
            </a:extLst>
          </p:cNvPr>
          <p:cNvSpPr/>
          <p:nvPr/>
        </p:nvSpPr>
        <p:spPr>
          <a:xfrm>
            <a:off x="7888703" y="3673791"/>
            <a:ext cx="1090894" cy="4616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725B74-C874-68DE-DF05-B6DECDC41E87}"/>
              </a:ext>
            </a:extLst>
          </p:cNvPr>
          <p:cNvCxnSpPr>
            <a:cxnSpLocks/>
          </p:cNvCxnSpPr>
          <p:nvPr/>
        </p:nvCxnSpPr>
        <p:spPr>
          <a:xfrm flipV="1">
            <a:off x="5688459" y="3956050"/>
            <a:ext cx="2200244" cy="87535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270470A-097A-3F26-1C77-37B1F811B070}"/>
              </a:ext>
            </a:extLst>
          </p:cNvPr>
          <p:cNvSpPr txBox="1"/>
          <p:nvPr/>
        </p:nvSpPr>
        <p:spPr>
          <a:xfrm>
            <a:off x="4692136" y="3762270"/>
            <a:ext cx="10553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Closer to the equator = high fatality odds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E73F7E-CA2C-4AC0-F192-CBF20DDC330A}"/>
              </a:ext>
            </a:extLst>
          </p:cNvPr>
          <p:cNvSpPr/>
          <p:nvPr/>
        </p:nvSpPr>
        <p:spPr>
          <a:xfrm>
            <a:off x="4641850" y="3762270"/>
            <a:ext cx="1055394" cy="6636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6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C8CF-931D-7EF4-ED9E-5310633D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B76D8-77EE-B772-8E58-7B8CF498C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5014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471</TotalTime>
  <Words>119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Wingdings</vt:lpstr>
      <vt:lpstr>Retrospect</vt:lpstr>
      <vt:lpstr>“Volunteers” </vt:lpstr>
      <vt:lpstr>Methodology </vt:lpstr>
      <vt:lpstr>The Question: How frequent are terrorism events?</vt:lpstr>
      <vt:lpstr>PowerPoint Presentation</vt:lpstr>
      <vt:lpstr>SHAPiro      Fatality Influencers *Model = RandomForestClassifer (No matter how deep,  SHAPiro never split on the Left) 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Griffith</dc:creator>
  <cp:lastModifiedBy>Andrew Griffith</cp:lastModifiedBy>
  <cp:revision>8</cp:revision>
  <dcterms:created xsi:type="dcterms:W3CDTF">2026-07-09T21:22:30Z</dcterms:created>
  <dcterms:modified xsi:type="dcterms:W3CDTF">2026-07-10T13:50:48Z</dcterms:modified>
</cp:coreProperties>
</file>