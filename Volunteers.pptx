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5" r:id="rId1"/>
  </p:sldMasterIdLst>
  <p:notesMasterIdLst>
    <p:notesMasterId r:id="rId8"/>
  </p:notesMasterIdLst>
  <p:sldIdLst>
    <p:sldId id="256" r:id="rId2"/>
    <p:sldId id="258" r:id="rId3"/>
    <p:sldId id="261" r:id="rId4"/>
    <p:sldId id="257" r:id="rId5"/>
    <p:sldId id="262" r:id="rId6"/>
    <p:sldId id="260" r:id="rId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4545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10" autoAdjust="0"/>
    <p:restoredTop sz="74018" autoAdjust="0"/>
  </p:normalViewPr>
  <p:slideViewPr>
    <p:cSldViewPr snapToGrid="0">
      <p:cViewPr varScale="1">
        <p:scale>
          <a:sx n="93" d="100"/>
          <a:sy n="93" d="100"/>
        </p:scale>
        <p:origin x="96" y="4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8AAFA3-C793-4CF9-BAB9-E3B702F90A5F}" type="datetimeFigureOut">
              <a:rPr lang="en-US" smtClean="0"/>
              <a:t>7/10/2026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A5DEBA2-5BAE-4D27-B00D-B244487620C2}" type="slidenum">
              <a:rPr lang="en-US" smtClean="0"/>
              <a:t>‹#›</a:t>
            </a:fld>
            <a:endParaRPr lang="en-US"/>
          </a:p>
        </p:txBody>
      </p:sp>
    </p:spTree>
    <p:extLst>
      <p:ext uri="{BB962C8B-B14F-4D97-AF65-F5344CB8AC3E}">
        <p14:creationId xmlns:p14="http://schemas.microsoft.com/office/powerpoint/2010/main" val="29208211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graph shows total incidents over the years. The range being year 2000 to 2016. There is a major spike in 2001 correlating to the 9/11 attack but afterwards we see a steep decline followed by another upward trend starting in 2007.</a:t>
            </a:r>
          </a:p>
          <a:p>
            <a:endParaRPr lang="en-US" dirty="0"/>
          </a:p>
          <a:p>
            <a:r>
              <a:rPr lang="en-US" dirty="0"/>
              <a:t>The model on the right is the forecasted activity based off prior events and focused around our trend line. We see here that  ~20 events are forecasted to take place each month in next few years (assuming we are in 2016) with a continual increase in the following years.  </a:t>
            </a:r>
          </a:p>
        </p:txBody>
      </p:sp>
      <p:sp>
        <p:nvSpPr>
          <p:cNvPr id="4" name="Slide Number Placeholder 3"/>
          <p:cNvSpPr>
            <a:spLocks noGrp="1"/>
          </p:cNvSpPr>
          <p:nvPr>
            <p:ph type="sldNum" sz="quarter" idx="5"/>
          </p:nvPr>
        </p:nvSpPr>
        <p:spPr/>
        <p:txBody>
          <a:bodyPr/>
          <a:lstStyle/>
          <a:p>
            <a:fld id="{AA5DEBA2-5BAE-4D27-B00D-B244487620C2}" type="slidenum">
              <a:rPr lang="en-US" smtClean="0"/>
              <a:t>3</a:t>
            </a:fld>
            <a:endParaRPr lang="en-US"/>
          </a:p>
        </p:txBody>
      </p:sp>
    </p:spTree>
    <p:extLst>
      <p:ext uri="{BB962C8B-B14F-4D97-AF65-F5344CB8AC3E}">
        <p14:creationId xmlns:p14="http://schemas.microsoft.com/office/powerpoint/2010/main" val="29284992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a heat map to illustrate the terrorist activity, South America has the highest density shown by our red spots. North America also has a good spread but is heavily spread out when zoomed in.</a:t>
            </a:r>
          </a:p>
          <a:p>
            <a:endParaRPr lang="en-US" dirty="0"/>
          </a:p>
          <a:p>
            <a:r>
              <a:rPr lang="en-US" dirty="0"/>
              <a:t>Zooming in on Colombia, shows that most of the area is affected by terrorist threats and would benefit most from localized intervention. Deploying resources in the forms of enhanced emergency response, community awareness programs, and monitoring capabilities may have immediate impacts to reducing incidents and casualties.</a:t>
            </a:r>
          </a:p>
        </p:txBody>
      </p:sp>
      <p:sp>
        <p:nvSpPr>
          <p:cNvPr id="4" name="Slide Number Placeholder 3"/>
          <p:cNvSpPr>
            <a:spLocks noGrp="1"/>
          </p:cNvSpPr>
          <p:nvPr>
            <p:ph type="sldNum" sz="quarter" idx="5"/>
          </p:nvPr>
        </p:nvSpPr>
        <p:spPr/>
        <p:txBody>
          <a:bodyPr/>
          <a:lstStyle/>
          <a:p>
            <a:fld id="{AA5DEBA2-5BAE-4D27-B00D-B244487620C2}" type="slidenum">
              <a:rPr lang="en-US" smtClean="0"/>
              <a:t>4</a:t>
            </a:fld>
            <a:endParaRPr lang="en-US"/>
          </a:p>
        </p:txBody>
      </p:sp>
    </p:spTree>
    <p:extLst>
      <p:ext uri="{BB962C8B-B14F-4D97-AF65-F5344CB8AC3E}">
        <p14:creationId xmlns:p14="http://schemas.microsoft.com/office/powerpoint/2010/main" val="24910897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Mitigating casualties in terrorist attacks would be most effective when considering seasonality and location. We can see on the left chart that average casualty counts spike and dip depending on the month they happen and are influenced heavily by location as seen in the chart on the right illustrating that Latitude of an event has a higher odds of increasing fatalities. </a:t>
            </a:r>
          </a:p>
          <a:p>
            <a:endParaRPr lang="en-US" dirty="0"/>
          </a:p>
          <a:p>
            <a:r>
              <a:rPr lang="en-US" dirty="0"/>
              <a:t>Knowing this, we can focus on timing for community programs and response forecasting. Ensuring awareness and staffing is high in the right locations may drastically lower our casualty counts.  </a:t>
            </a:r>
          </a:p>
        </p:txBody>
      </p:sp>
      <p:sp>
        <p:nvSpPr>
          <p:cNvPr id="4" name="Slide Number Placeholder 3"/>
          <p:cNvSpPr>
            <a:spLocks noGrp="1"/>
          </p:cNvSpPr>
          <p:nvPr>
            <p:ph type="sldNum" sz="quarter" idx="5"/>
          </p:nvPr>
        </p:nvSpPr>
        <p:spPr/>
        <p:txBody>
          <a:bodyPr/>
          <a:lstStyle/>
          <a:p>
            <a:fld id="{AA5DEBA2-5BAE-4D27-B00D-B244487620C2}" type="slidenum">
              <a:rPr lang="en-US" smtClean="0"/>
              <a:t>5</a:t>
            </a:fld>
            <a:endParaRPr lang="en-US"/>
          </a:p>
        </p:txBody>
      </p:sp>
    </p:spTree>
    <p:extLst>
      <p:ext uri="{BB962C8B-B14F-4D97-AF65-F5344CB8AC3E}">
        <p14:creationId xmlns:p14="http://schemas.microsoft.com/office/powerpoint/2010/main" val="202375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provided on terrorist activity paints Colombia as being the hottest area with the most casualty counts. There are no resources that Colombia would not benefit from gaining and it’s suggestive that any action would make an impact to lower the activity and casualty count. </a:t>
            </a:r>
          </a:p>
          <a:p>
            <a:endParaRPr lang="en-US" dirty="0"/>
          </a:p>
          <a:p>
            <a:r>
              <a:rPr lang="en-US" dirty="0"/>
              <a:t>While terrorist activity is spread throughout North America, the concentration of events is not as centralized as we see in South America. This doesn’t negate the need for resources but rather suggests that the most beneficial resource may be monitorization and community programs to increase vigilance.  </a:t>
            </a:r>
          </a:p>
        </p:txBody>
      </p:sp>
      <p:sp>
        <p:nvSpPr>
          <p:cNvPr id="4" name="Slide Number Placeholder 3"/>
          <p:cNvSpPr>
            <a:spLocks noGrp="1"/>
          </p:cNvSpPr>
          <p:nvPr>
            <p:ph type="sldNum" sz="quarter" idx="5"/>
          </p:nvPr>
        </p:nvSpPr>
        <p:spPr/>
        <p:txBody>
          <a:bodyPr/>
          <a:lstStyle/>
          <a:p>
            <a:fld id="{AA5DEBA2-5BAE-4D27-B00D-B244487620C2}" type="slidenum">
              <a:rPr lang="en-US" smtClean="0"/>
              <a:t>6</a:t>
            </a:fld>
            <a:endParaRPr lang="en-US"/>
          </a:p>
        </p:txBody>
      </p:sp>
    </p:spTree>
    <p:extLst>
      <p:ext uri="{BB962C8B-B14F-4D97-AF65-F5344CB8AC3E}">
        <p14:creationId xmlns:p14="http://schemas.microsoft.com/office/powerpoint/2010/main" val="14162108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128FA71-3A18-48C0-980F-4B68F7F63042}" type="datetime1">
              <a:rPr lang="en-US" smtClean="0"/>
              <a:t>7/10/2026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95789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1C1210E-201E-4473-82AC-2466F5386C38}" type="datetime1">
              <a:rPr lang="en-US" smtClean="0"/>
              <a:t>7/10/2026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6122658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01EA198-6CAB-4B8F-B93F-1F9C8C4B6CE7}" type="datetime1">
              <a:rPr lang="en-US" smtClean="0"/>
              <a:t>7/10/2026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7759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A06041F-4525-44D5-AA4F-332294BF1F56}" type="datetime1">
              <a:rPr lang="en-US" smtClean="0"/>
              <a:t>7/10/2026</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6542195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9557091-BBDF-4EB9-BA6B-2BB67AC4FC0F}" type="datetime1">
              <a:rPr lang="en-US" smtClean="0"/>
              <a:t>7/10/2026</a:t>
            </a:fld>
            <a:endParaRPr lang="en-US"/>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8404043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D6B226B-77A6-410C-9796-083F278E0125}" type="datetime1">
              <a:rPr lang="en-US" smtClean="0"/>
              <a:t>7/10/2026</a:t>
            </a:fld>
            <a:endParaRPr lang="en-US"/>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3921529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A23A578B-D289-4C40-8593-3D356C49DA58}" type="datetime1">
              <a:rPr lang="en-US" smtClean="0"/>
              <a:t>7/10/2026</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dirty="0"/>
          </a:p>
        </p:txBody>
      </p:sp>
      <p:sp>
        <p:nvSpPr>
          <p:cNvPr id="9" name="Slide Number Placeholder 8"/>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9836862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713DFAE3-14DB-48A7-A80F-80DDB072CE3D}" type="datetime1">
              <a:rPr lang="en-US" smtClean="0"/>
              <a:t>7/10/2026</a:t>
            </a:fld>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CC057153-B650-4DEB-B370-79DDCFDCE934}" type="slidenum">
              <a:rPr lang="en-US" smtClean="0"/>
              <a:t>‹#›</a:t>
            </a:fld>
            <a:endParaRPr lang="en-US"/>
          </a:p>
        </p:txBody>
      </p:sp>
    </p:spTree>
    <p:extLst>
      <p:ext uri="{BB962C8B-B14F-4D97-AF65-F5344CB8AC3E}">
        <p14:creationId xmlns:p14="http://schemas.microsoft.com/office/powerpoint/2010/main" val="18201505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2C5EAEF-6478-4102-8F5D-A5FE9FC97ACB}" type="datetime1">
              <a:rPr lang="en-US" smtClean="0"/>
              <a:t>7/10/2026</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9584241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104EDB3-C0E8-45F8-9E1D-1B6C8D1880C0}" type="datetime1">
              <a:rPr lang="en-US" smtClean="0"/>
              <a:t>7/10/2026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7611017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CF0EC4B-54ED-4041-B552-9BA760FA3DBA}" type="datetime1">
              <a:rPr lang="en-US" smtClean="0"/>
              <a:t>7/10/2026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7628447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67F45AC6-C491-4585-A584-9CE2AF7D5500}" type="datetime1">
              <a:rPr lang="en-US" smtClean="0"/>
              <a:t>7/10/2026</a:t>
            </a:fld>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dirty="0"/>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CC057153-B650-4DEB-B370-79DDCFDCE934}" type="slidenum">
              <a:rPr lang="en-US" smtClean="0"/>
              <a:t>‹#›</a:t>
            </a:fld>
            <a:endParaRPr 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82211561"/>
      </p:ext>
    </p:extLst>
  </p:cSld>
  <p:clrMap bg1="lt1" tx1="dk1" bg2="lt2" tx2="dk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 id="2147483710" r:id="rId5"/>
    <p:sldLayoutId id="2147483711" r:id="rId6"/>
    <p:sldLayoutId id="2147483712" r:id="rId7"/>
    <p:sldLayoutId id="2147483713" r:id="rId8"/>
    <p:sldLayoutId id="2147483714" r:id="rId9"/>
    <p:sldLayoutId id="2147483715" r:id="rId10"/>
    <p:sldLayoutId id="2147483716" r:id="rId11"/>
  </p:sldLayoutIdLst>
  <p:hf sldNum="0" hdr="0" ftr="0" dt="0"/>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descr="Stick figure families holding hands">
            <a:extLst>
              <a:ext uri="{FF2B5EF4-FFF2-40B4-BE49-F238E27FC236}">
                <a16:creationId xmlns:a16="http://schemas.microsoft.com/office/drawing/2014/main" id="{D48DA71E-B1D2-5751-2A93-4D8182F6DFEF}"/>
              </a:ext>
            </a:extLst>
          </p:cNvPr>
          <p:cNvPicPr>
            <a:picLocks noChangeAspect="1"/>
          </p:cNvPicPr>
          <p:nvPr/>
        </p:nvPicPr>
        <p:blipFill>
          <a:blip r:embed="rId2">
            <a:alphaModFix amt="60000"/>
          </a:blip>
          <a:srcRect t="10598" b="5133"/>
          <a:stretch>
            <a:fillRect/>
          </a:stretch>
        </p:blipFill>
        <p:spPr>
          <a:xfrm>
            <a:off x="0" y="1"/>
            <a:ext cx="12192000" cy="6857999"/>
          </a:xfrm>
          <a:prstGeom prst="rect">
            <a:avLst/>
          </a:prstGeom>
        </p:spPr>
      </p:pic>
      <p:sp>
        <p:nvSpPr>
          <p:cNvPr id="2" name="Title 1">
            <a:extLst>
              <a:ext uri="{FF2B5EF4-FFF2-40B4-BE49-F238E27FC236}">
                <a16:creationId xmlns:a16="http://schemas.microsoft.com/office/drawing/2014/main" id="{0436BD39-EBBF-6C62-8F84-DC46E20E5A7F}"/>
              </a:ext>
            </a:extLst>
          </p:cNvPr>
          <p:cNvSpPr>
            <a:spLocks noGrp="1"/>
          </p:cNvSpPr>
          <p:nvPr>
            <p:ph type="ctrTitle"/>
          </p:nvPr>
        </p:nvSpPr>
        <p:spPr>
          <a:xfrm>
            <a:off x="3692573" y="930152"/>
            <a:ext cx="4327477" cy="2236264"/>
          </a:xfrm>
        </p:spPr>
        <p:txBody>
          <a:bodyPr>
            <a:normAutofit/>
          </a:bodyPr>
          <a:lstStyle/>
          <a:p>
            <a:r>
              <a:rPr lang="en-US" sz="5400" dirty="0">
                <a:solidFill>
                  <a:schemeClr val="bg1"/>
                </a:solidFill>
              </a:rPr>
              <a:t>“Volunteers”</a:t>
            </a:r>
            <a:br>
              <a:rPr lang="en-US" sz="5400" dirty="0">
                <a:solidFill>
                  <a:srgbClr val="FFFFFF"/>
                </a:solidFill>
              </a:rPr>
            </a:br>
            <a:endParaRPr lang="en-US" sz="5400" dirty="0">
              <a:solidFill>
                <a:srgbClr val="FFFFFF"/>
              </a:solidFill>
            </a:endParaRPr>
          </a:p>
        </p:txBody>
      </p:sp>
      <p:sp>
        <p:nvSpPr>
          <p:cNvPr id="3" name="Subtitle 2">
            <a:extLst>
              <a:ext uri="{FF2B5EF4-FFF2-40B4-BE49-F238E27FC236}">
                <a16:creationId xmlns:a16="http://schemas.microsoft.com/office/drawing/2014/main" id="{775A2853-76DD-8092-81CD-81F335549868}"/>
              </a:ext>
            </a:extLst>
          </p:cNvPr>
          <p:cNvSpPr>
            <a:spLocks noGrp="1"/>
          </p:cNvSpPr>
          <p:nvPr>
            <p:ph type="subTitle" idx="1"/>
          </p:nvPr>
        </p:nvSpPr>
        <p:spPr>
          <a:xfrm>
            <a:off x="2403523" y="3609787"/>
            <a:ext cx="7588155" cy="1414091"/>
          </a:xfrm>
        </p:spPr>
        <p:txBody>
          <a:bodyPr>
            <a:normAutofit/>
          </a:bodyPr>
          <a:lstStyle/>
          <a:p>
            <a:r>
              <a:rPr lang="en-US" sz="2200" dirty="0">
                <a:solidFill>
                  <a:schemeClr val="bg1"/>
                </a:solidFill>
              </a:rPr>
              <a:t>Resource Allocation for anti-terrorism efforts</a:t>
            </a:r>
          </a:p>
          <a:p>
            <a:r>
              <a:rPr lang="en-US" sz="2200" dirty="0">
                <a:solidFill>
                  <a:schemeClr val="bg1"/>
                </a:solidFill>
              </a:rPr>
              <a:t>Presented by the GUI Guys</a:t>
            </a:r>
          </a:p>
        </p:txBody>
      </p:sp>
    </p:spTree>
    <p:extLst>
      <p:ext uri="{BB962C8B-B14F-4D97-AF65-F5344CB8AC3E}">
        <p14:creationId xmlns:p14="http://schemas.microsoft.com/office/powerpoint/2010/main" val="2282375021"/>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A9F17C1-F57F-76B3-BE7C-DC0859E60D21}"/>
              </a:ext>
            </a:extLst>
          </p:cNvPr>
          <p:cNvSpPr>
            <a:spLocks noGrp="1"/>
          </p:cNvSpPr>
          <p:nvPr>
            <p:ph idx="4294967295"/>
          </p:nvPr>
        </p:nvSpPr>
        <p:spPr>
          <a:xfrm>
            <a:off x="1066800" y="760413"/>
            <a:ext cx="10058400" cy="5189537"/>
          </a:xfrm>
        </p:spPr>
        <p:txBody>
          <a:bodyPr>
            <a:normAutofit/>
          </a:bodyPr>
          <a:lstStyle/>
          <a:p>
            <a:r>
              <a:rPr lang="en-US" sz="3600" b="1" dirty="0"/>
              <a:t>Methodology</a:t>
            </a:r>
          </a:p>
          <a:p>
            <a:r>
              <a:rPr lang="en-US" dirty="0"/>
              <a:t>- Our dataset encompassed terrorism incidents in North and South America from 2000-2017.  </a:t>
            </a:r>
          </a:p>
          <a:p>
            <a:r>
              <a:rPr lang="en-US" dirty="0"/>
              <a:t>- Event casualty (wounded and killed) information is the main narrative for this data set.</a:t>
            </a:r>
          </a:p>
          <a:p>
            <a:r>
              <a:rPr lang="en-US" dirty="0"/>
              <a:t>- Preventing further casualties through resource allocation can be determined by looking at activity and location.   </a:t>
            </a:r>
          </a:p>
          <a:p>
            <a:pPr marL="0" indent="0">
              <a:buNone/>
            </a:pPr>
            <a:endParaRPr lang="en-US" dirty="0"/>
          </a:p>
          <a:p>
            <a:pPr marL="0" indent="0">
              <a:buNone/>
            </a:pPr>
            <a:r>
              <a:rPr lang="en-US" sz="3600" b="1" dirty="0"/>
              <a:t>Overview:</a:t>
            </a:r>
          </a:p>
          <a:p>
            <a:pPr marL="0" indent="0">
              <a:buNone/>
            </a:pPr>
            <a:r>
              <a:rPr lang="en-US" dirty="0"/>
              <a:t>Time Series – What has/does terrorism activity looked like. </a:t>
            </a:r>
          </a:p>
          <a:p>
            <a:pPr marL="0" indent="0">
              <a:buNone/>
            </a:pPr>
            <a:r>
              <a:rPr lang="en-US" dirty="0"/>
              <a:t>Geospatial – Which areas have the most terrorist activities.</a:t>
            </a:r>
          </a:p>
          <a:p>
            <a:pPr marL="0" indent="0">
              <a:buNone/>
            </a:pPr>
            <a:r>
              <a:rPr lang="en-US" dirty="0"/>
              <a:t>SHAP – Are there any factors that influence casualties. </a:t>
            </a:r>
          </a:p>
          <a:p>
            <a:pPr marL="0" indent="0">
              <a:buNone/>
            </a:pPr>
            <a:r>
              <a:rPr lang="en-US" dirty="0"/>
              <a:t>Recommendation – Where should our resources be distributed and what are the risks?</a:t>
            </a:r>
          </a:p>
          <a:p>
            <a:pPr marL="0" indent="0">
              <a:buNone/>
            </a:pPr>
            <a:endParaRPr lang="en-US" dirty="0"/>
          </a:p>
          <a:p>
            <a:endParaRPr lang="en-US" dirty="0"/>
          </a:p>
        </p:txBody>
      </p:sp>
    </p:spTree>
    <p:extLst>
      <p:ext uri="{BB962C8B-B14F-4D97-AF65-F5344CB8AC3E}">
        <p14:creationId xmlns:p14="http://schemas.microsoft.com/office/powerpoint/2010/main" val="33387877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CCD252-8567-D447-3852-B54A736430F1}"/>
              </a:ext>
            </a:extLst>
          </p:cNvPr>
          <p:cNvSpPr>
            <a:spLocks noGrp="1"/>
          </p:cNvSpPr>
          <p:nvPr>
            <p:ph type="title" idx="4294967295"/>
          </p:nvPr>
        </p:nvSpPr>
        <p:spPr>
          <a:xfrm>
            <a:off x="1066800" y="238893"/>
            <a:ext cx="10058400" cy="896937"/>
          </a:xfrm>
        </p:spPr>
        <p:txBody>
          <a:bodyPr>
            <a:normAutofit/>
          </a:bodyPr>
          <a:lstStyle/>
          <a:p>
            <a:r>
              <a:rPr lang="en-US" sz="4000" b="1" dirty="0"/>
              <a:t>Question: </a:t>
            </a:r>
            <a:r>
              <a:rPr lang="en-US" sz="4000" dirty="0"/>
              <a:t>How frequent are terrorism events?</a:t>
            </a:r>
          </a:p>
        </p:txBody>
      </p:sp>
      <p:pic>
        <p:nvPicPr>
          <p:cNvPr id="4" name="Picture 3">
            <a:extLst>
              <a:ext uri="{FF2B5EF4-FFF2-40B4-BE49-F238E27FC236}">
                <a16:creationId xmlns:a16="http://schemas.microsoft.com/office/drawing/2014/main" id="{44199192-10DC-8DCF-D20A-047C0D393B9E}"/>
              </a:ext>
            </a:extLst>
          </p:cNvPr>
          <p:cNvPicPr>
            <a:picLocks noChangeAspect="1"/>
          </p:cNvPicPr>
          <p:nvPr/>
        </p:nvPicPr>
        <p:blipFill>
          <a:blip r:embed="rId3"/>
          <a:stretch>
            <a:fillRect/>
          </a:stretch>
        </p:blipFill>
        <p:spPr>
          <a:xfrm>
            <a:off x="389968" y="1562533"/>
            <a:ext cx="5438775" cy="4314825"/>
          </a:xfrm>
          <a:prstGeom prst="rect">
            <a:avLst/>
          </a:prstGeom>
        </p:spPr>
      </p:pic>
      <p:pic>
        <p:nvPicPr>
          <p:cNvPr id="7" name="Picture 6">
            <a:extLst>
              <a:ext uri="{FF2B5EF4-FFF2-40B4-BE49-F238E27FC236}">
                <a16:creationId xmlns:a16="http://schemas.microsoft.com/office/drawing/2014/main" id="{B371C586-BAAA-6751-8D7A-FA7C39D4C80D}"/>
              </a:ext>
            </a:extLst>
          </p:cNvPr>
          <p:cNvPicPr>
            <a:picLocks noChangeAspect="1"/>
          </p:cNvPicPr>
          <p:nvPr/>
        </p:nvPicPr>
        <p:blipFill>
          <a:blip r:embed="rId4"/>
          <a:stretch>
            <a:fillRect/>
          </a:stretch>
        </p:blipFill>
        <p:spPr>
          <a:xfrm>
            <a:off x="5828743" y="1891144"/>
            <a:ext cx="6124932" cy="3657601"/>
          </a:xfrm>
          <a:prstGeom prst="rect">
            <a:avLst/>
          </a:prstGeom>
        </p:spPr>
      </p:pic>
      <p:sp>
        <p:nvSpPr>
          <p:cNvPr id="8" name="TextBox 7">
            <a:extLst>
              <a:ext uri="{FF2B5EF4-FFF2-40B4-BE49-F238E27FC236}">
                <a16:creationId xmlns:a16="http://schemas.microsoft.com/office/drawing/2014/main" id="{38E8DBE7-3954-E891-A778-46CF379D9F7B}"/>
              </a:ext>
            </a:extLst>
          </p:cNvPr>
          <p:cNvSpPr txBox="1"/>
          <p:nvPr/>
        </p:nvSpPr>
        <p:spPr>
          <a:xfrm>
            <a:off x="7894926" y="1583367"/>
            <a:ext cx="3372592" cy="307777"/>
          </a:xfrm>
          <a:prstGeom prst="rect">
            <a:avLst/>
          </a:prstGeom>
          <a:noFill/>
        </p:spPr>
        <p:txBody>
          <a:bodyPr wrap="square" rtlCol="0">
            <a:spAutoFit/>
          </a:bodyPr>
          <a:lstStyle/>
          <a:p>
            <a:r>
              <a:rPr lang="en-US" sz="1400" dirty="0"/>
              <a:t>Terrorism Event Prediction Model</a:t>
            </a:r>
          </a:p>
        </p:txBody>
      </p:sp>
    </p:spTree>
    <p:extLst>
      <p:ext uri="{BB962C8B-B14F-4D97-AF65-F5344CB8AC3E}">
        <p14:creationId xmlns:p14="http://schemas.microsoft.com/office/powerpoint/2010/main" val="31530432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5EB9972B-F5B4-4607-3EC4-02DA17C10970}"/>
              </a:ext>
            </a:extLst>
          </p:cNvPr>
          <p:cNvPicPr>
            <a:picLocks noChangeAspect="1"/>
          </p:cNvPicPr>
          <p:nvPr/>
        </p:nvPicPr>
        <p:blipFill>
          <a:blip r:embed="rId3"/>
          <a:stretch>
            <a:fillRect/>
          </a:stretch>
        </p:blipFill>
        <p:spPr>
          <a:xfrm>
            <a:off x="302316" y="1867195"/>
            <a:ext cx="4199346" cy="4123371"/>
          </a:xfrm>
          <a:prstGeom prst="rect">
            <a:avLst/>
          </a:prstGeom>
        </p:spPr>
      </p:pic>
      <p:pic>
        <p:nvPicPr>
          <p:cNvPr id="13" name="Picture 12">
            <a:extLst>
              <a:ext uri="{FF2B5EF4-FFF2-40B4-BE49-F238E27FC236}">
                <a16:creationId xmlns:a16="http://schemas.microsoft.com/office/drawing/2014/main" id="{86CB428F-B14E-AF55-1810-E4CD1065673A}"/>
              </a:ext>
            </a:extLst>
          </p:cNvPr>
          <p:cNvPicPr>
            <a:picLocks noChangeAspect="1"/>
          </p:cNvPicPr>
          <p:nvPr/>
        </p:nvPicPr>
        <p:blipFill>
          <a:blip r:embed="rId4"/>
          <a:stretch>
            <a:fillRect/>
          </a:stretch>
        </p:blipFill>
        <p:spPr>
          <a:xfrm>
            <a:off x="7948950" y="1867196"/>
            <a:ext cx="3940734" cy="4123371"/>
          </a:xfrm>
          <a:prstGeom prst="rect">
            <a:avLst/>
          </a:prstGeom>
        </p:spPr>
      </p:pic>
      <p:sp>
        <p:nvSpPr>
          <p:cNvPr id="3" name="TextBox 2">
            <a:extLst>
              <a:ext uri="{FF2B5EF4-FFF2-40B4-BE49-F238E27FC236}">
                <a16:creationId xmlns:a16="http://schemas.microsoft.com/office/drawing/2014/main" id="{EE0B15C4-BDD3-8F35-257B-D1F08EB6AF14}"/>
              </a:ext>
            </a:extLst>
          </p:cNvPr>
          <p:cNvSpPr txBox="1"/>
          <p:nvPr/>
        </p:nvSpPr>
        <p:spPr>
          <a:xfrm>
            <a:off x="4548554" y="1867196"/>
            <a:ext cx="3400396" cy="2585323"/>
          </a:xfrm>
          <a:prstGeom prst="rect">
            <a:avLst/>
          </a:prstGeom>
          <a:noFill/>
        </p:spPr>
        <p:txBody>
          <a:bodyPr wrap="square" rtlCol="0">
            <a:spAutoFit/>
          </a:bodyPr>
          <a:lstStyle/>
          <a:p>
            <a:r>
              <a:rPr lang="en-US" dirty="0"/>
              <a:t>North America</a:t>
            </a:r>
          </a:p>
          <a:p>
            <a:r>
              <a:rPr lang="en-US" dirty="0"/>
              <a:t>- East coast contains major activity spots</a:t>
            </a:r>
          </a:p>
          <a:p>
            <a:endParaRPr lang="en-US" dirty="0"/>
          </a:p>
          <a:p>
            <a:endParaRPr lang="en-US" dirty="0"/>
          </a:p>
          <a:p>
            <a:r>
              <a:rPr lang="en-US" dirty="0"/>
              <a:t>South America </a:t>
            </a:r>
          </a:p>
          <a:p>
            <a:r>
              <a:rPr lang="en-US" dirty="0"/>
              <a:t>-Colombia hottest spot with most incidents </a:t>
            </a:r>
          </a:p>
          <a:p>
            <a:endParaRPr lang="en-US" dirty="0"/>
          </a:p>
        </p:txBody>
      </p:sp>
      <p:sp>
        <p:nvSpPr>
          <p:cNvPr id="7" name="Title 1">
            <a:extLst>
              <a:ext uri="{FF2B5EF4-FFF2-40B4-BE49-F238E27FC236}">
                <a16:creationId xmlns:a16="http://schemas.microsoft.com/office/drawing/2014/main" id="{17C96B37-8E6D-B007-71B0-CB0AB448164E}"/>
              </a:ext>
            </a:extLst>
          </p:cNvPr>
          <p:cNvSpPr txBox="1">
            <a:spLocks/>
          </p:cNvSpPr>
          <p:nvPr/>
        </p:nvSpPr>
        <p:spPr>
          <a:xfrm>
            <a:off x="1219552" y="269171"/>
            <a:ext cx="10058400" cy="896937"/>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r>
              <a:rPr lang="en-US" sz="4000" b="1" dirty="0"/>
              <a:t>Question: </a:t>
            </a:r>
            <a:r>
              <a:rPr lang="en-US" sz="4000" dirty="0"/>
              <a:t>Which areas see the most activity?</a:t>
            </a:r>
          </a:p>
        </p:txBody>
      </p:sp>
      <p:sp>
        <p:nvSpPr>
          <p:cNvPr id="8" name="Oval 7">
            <a:extLst>
              <a:ext uri="{FF2B5EF4-FFF2-40B4-BE49-F238E27FC236}">
                <a16:creationId xmlns:a16="http://schemas.microsoft.com/office/drawing/2014/main" id="{2F7B2CBA-3379-D3E7-CF5B-6F62FF106401}"/>
              </a:ext>
            </a:extLst>
          </p:cNvPr>
          <p:cNvSpPr/>
          <p:nvPr/>
        </p:nvSpPr>
        <p:spPr>
          <a:xfrm>
            <a:off x="2114550" y="3829050"/>
            <a:ext cx="889000" cy="8128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555B07E0-38E8-F65C-F0E3-D7BDB0B3F21C}"/>
              </a:ext>
            </a:extLst>
          </p:cNvPr>
          <p:cNvSpPr/>
          <p:nvPr/>
        </p:nvSpPr>
        <p:spPr>
          <a:xfrm>
            <a:off x="1676400" y="2315163"/>
            <a:ext cx="1168400" cy="1113837"/>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8546CBF0-6512-E9DF-C4B0-37553F354C04}"/>
              </a:ext>
            </a:extLst>
          </p:cNvPr>
          <p:cNvSpPr txBox="1"/>
          <p:nvPr/>
        </p:nvSpPr>
        <p:spPr>
          <a:xfrm>
            <a:off x="1028700" y="1441450"/>
            <a:ext cx="2451100" cy="368300"/>
          </a:xfrm>
          <a:prstGeom prst="rect">
            <a:avLst/>
          </a:prstGeom>
          <a:noFill/>
        </p:spPr>
        <p:txBody>
          <a:bodyPr wrap="square" rtlCol="0">
            <a:spAutoFit/>
          </a:bodyPr>
          <a:lstStyle/>
          <a:p>
            <a:r>
              <a:rPr lang="en-US" dirty="0"/>
              <a:t>Location Overview</a:t>
            </a:r>
          </a:p>
        </p:txBody>
      </p:sp>
      <p:sp>
        <p:nvSpPr>
          <p:cNvPr id="15" name="TextBox 14">
            <a:extLst>
              <a:ext uri="{FF2B5EF4-FFF2-40B4-BE49-F238E27FC236}">
                <a16:creationId xmlns:a16="http://schemas.microsoft.com/office/drawing/2014/main" id="{4922A2F6-00F8-D5FC-77C0-83D2ED1AB89E}"/>
              </a:ext>
            </a:extLst>
          </p:cNvPr>
          <p:cNvSpPr txBox="1"/>
          <p:nvPr/>
        </p:nvSpPr>
        <p:spPr>
          <a:xfrm>
            <a:off x="8801100" y="1440418"/>
            <a:ext cx="2667000" cy="369332"/>
          </a:xfrm>
          <a:prstGeom prst="rect">
            <a:avLst/>
          </a:prstGeom>
          <a:noFill/>
        </p:spPr>
        <p:txBody>
          <a:bodyPr wrap="square" rtlCol="0">
            <a:spAutoFit/>
          </a:bodyPr>
          <a:lstStyle/>
          <a:p>
            <a:r>
              <a:rPr lang="en-US" dirty="0"/>
              <a:t>South America, Colombia</a:t>
            </a:r>
          </a:p>
        </p:txBody>
      </p:sp>
    </p:spTree>
    <p:extLst>
      <p:ext uri="{BB962C8B-B14F-4D97-AF65-F5344CB8AC3E}">
        <p14:creationId xmlns:p14="http://schemas.microsoft.com/office/powerpoint/2010/main" val="38783872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71E0CC-7F66-6138-C52C-ECB660BDB6D1}"/>
              </a:ext>
            </a:extLst>
          </p:cNvPr>
          <p:cNvSpPr>
            <a:spLocks noGrp="1"/>
          </p:cNvSpPr>
          <p:nvPr>
            <p:ph type="title"/>
          </p:nvPr>
        </p:nvSpPr>
        <p:spPr>
          <a:xfrm>
            <a:off x="1097280" y="286604"/>
            <a:ext cx="10058400" cy="1453296"/>
          </a:xfrm>
        </p:spPr>
        <p:txBody>
          <a:bodyPr>
            <a:normAutofit/>
          </a:bodyPr>
          <a:lstStyle/>
          <a:p>
            <a:r>
              <a:rPr lang="en-US" b="1" dirty="0" err="1"/>
              <a:t>SHAP</a:t>
            </a:r>
            <a:r>
              <a:rPr lang="en-US" sz="1400" b="1" dirty="0" err="1"/>
              <a:t>iro</a:t>
            </a:r>
            <a:r>
              <a:rPr lang="en-US" sz="1400" b="1" dirty="0"/>
              <a:t>      </a:t>
            </a:r>
            <a:r>
              <a:rPr lang="en-US" b="1" dirty="0"/>
              <a:t>Fatality Influencers</a:t>
            </a:r>
            <a:br>
              <a:rPr lang="en-US" dirty="0"/>
            </a:br>
            <a:r>
              <a:rPr lang="en-US" sz="1300" dirty="0"/>
              <a:t>*Model = </a:t>
            </a:r>
            <a:r>
              <a:rPr lang="en-US" sz="1300" dirty="0" err="1"/>
              <a:t>RandomForestClassifer</a:t>
            </a:r>
            <a:r>
              <a:rPr lang="en-US" sz="1300" dirty="0"/>
              <a:t> (No matter how deep,  </a:t>
            </a:r>
            <a:r>
              <a:rPr lang="en-US" sz="1300" dirty="0" err="1"/>
              <a:t>SHAP</a:t>
            </a:r>
            <a:r>
              <a:rPr lang="en-US" sz="500" dirty="0" err="1"/>
              <a:t>iro</a:t>
            </a:r>
            <a:r>
              <a:rPr lang="en-US" sz="1300" dirty="0"/>
              <a:t> never split on the Left)</a:t>
            </a:r>
            <a:br>
              <a:rPr lang="en-US" dirty="0"/>
            </a:br>
            <a:endParaRPr lang="en-US" sz="1400" dirty="0"/>
          </a:p>
        </p:txBody>
      </p:sp>
      <p:pic>
        <p:nvPicPr>
          <p:cNvPr id="5" name="Content Placeholder 4">
            <a:extLst>
              <a:ext uri="{FF2B5EF4-FFF2-40B4-BE49-F238E27FC236}">
                <a16:creationId xmlns:a16="http://schemas.microsoft.com/office/drawing/2014/main" id="{353406A0-D671-304A-A2C1-E6BADA78AB1A}"/>
              </a:ext>
            </a:extLst>
          </p:cNvPr>
          <p:cNvPicPr>
            <a:picLocks noGrp="1" noChangeAspect="1"/>
          </p:cNvPicPr>
          <p:nvPr>
            <p:ph idx="1"/>
          </p:nvPr>
        </p:nvPicPr>
        <p:blipFill>
          <a:blip r:embed="rId3"/>
          <a:srcRect b="14326"/>
          <a:stretch>
            <a:fillRect/>
          </a:stretch>
        </p:blipFill>
        <p:spPr>
          <a:xfrm>
            <a:off x="5920737" y="3150271"/>
            <a:ext cx="5026826" cy="2043148"/>
          </a:xfrm>
          <a:prstGeom prst="rect">
            <a:avLst/>
          </a:prstGeom>
        </p:spPr>
      </p:pic>
      <p:sp>
        <p:nvSpPr>
          <p:cNvPr id="6" name="TextBox 5">
            <a:extLst>
              <a:ext uri="{FF2B5EF4-FFF2-40B4-BE49-F238E27FC236}">
                <a16:creationId xmlns:a16="http://schemas.microsoft.com/office/drawing/2014/main" id="{32842527-86EE-DF12-1238-A11542B27E24}"/>
              </a:ext>
            </a:extLst>
          </p:cNvPr>
          <p:cNvSpPr txBox="1"/>
          <p:nvPr/>
        </p:nvSpPr>
        <p:spPr>
          <a:xfrm>
            <a:off x="5977200" y="5140491"/>
            <a:ext cx="4202607" cy="461665"/>
          </a:xfrm>
          <a:prstGeom prst="rect">
            <a:avLst/>
          </a:prstGeom>
          <a:solidFill>
            <a:schemeClr val="bg1"/>
          </a:solidFill>
        </p:spPr>
        <p:txBody>
          <a:bodyPr wrap="square" rtlCol="0">
            <a:spAutoFit/>
          </a:bodyPr>
          <a:lstStyle/>
          <a:p>
            <a:pPr marL="285750" indent="-285750">
              <a:buFont typeface="Wingdings" panose="05000000000000000000" pitchFamily="2" charset="2"/>
              <a:buChar char="ß"/>
            </a:pPr>
            <a:r>
              <a:rPr lang="en-US" sz="1200" dirty="0">
                <a:sym typeface="Wingdings" panose="05000000000000000000" pitchFamily="2" charset="2"/>
              </a:rPr>
              <a:t>Lower odds of fatalities                Higher odds of fatalities   </a:t>
            </a:r>
          </a:p>
          <a:p>
            <a:pPr marL="285750" indent="-285750">
              <a:buFont typeface="Wingdings" panose="05000000000000000000" pitchFamily="2" charset="2"/>
              <a:buChar char="ß"/>
            </a:pPr>
            <a:endParaRPr lang="en-US" sz="1200" dirty="0"/>
          </a:p>
        </p:txBody>
      </p:sp>
      <p:sp>
        <p:nvSpPr>
          <p:cNvPr id="8" name="TextBox 7">
            <a:extLst>
              <a:ext uri="{FF2B5EF4-FFF2-40B4-BE49-F238E27FC236}">
                <a16:creationId xmlns:a16="http://schemas.microsoft.com/office/drawing/2014/main" id="{D568F4D9-6B11-1964-165F-5141F166AA51}"/>
              </a:ext>
            </a:extLst>
          </p:cNvPr>
          <p:cNvSpPr txBox="1"/>
          <p:nvPr/>
        </p:nvSpPr>
        <p:spPr>
          <a:xfrm>
            <a:off x="1720892" y="2536556"/>
            <a:ext cx="1833762" cy="307777"/>
          </a:xfrm>
          <a:prstGeom prst="rect">
            <a:avLst/>
          </a:prstGeom>
          <a:solidFill>
            <a:schemeClr val="bg1"/>
          </a:solidFill>
        </p:spPr>
        <p:txBody>
          <a:bodyPr wrap="square" rtlCol="0">
            <a:spAutoFit/>
          </a:bodyPr>
          <a:lstStyle/>
          <a:p>
            <a:r>
              <a:rPr lang="en-US" sz="1400" dirty="0"/>
              <a:t>Casualties by Month</a:t>
            </a:r>
          </a:p>
        </p:txBody>
      </p:sp>
      <p:pic>
        <p:nvPicPr>
          <p:cNvPr id="4" name="Picture 3">
            <a:extLst>
              <a:ext uri="{FF2B5EF4-FFF2-40B4-BE49-F238E27FC236}">
                <a16:creationId xmlns:a16="http://schemas.microsoft.com/office/drawing/2014/main" id="{D7A5D6A9-85F5-7C22-2D7B-CD7844175D9F}"/>
              </a:ext>
            </a:extLst>
          </p:cNvPr>
          <p:cNvPicPr>
            <a:picLocks noChangeAspect="1"/>
          </p:cNvPicPr>
          <p:nvPr/>
        </p:nvPicPr>
        <p:blipFill>
          <a:blip r:embed="rId4"/>
          <a:stretch>
            <a:fillRect/>
          </a:stretch>
        </p:blipFill>
        <p:spPr>
          <a:xfrm>
            <a:off x="412268" y="2844333"/>
            <a:ext cx="3891087" cy="2943870"/>
          </a:xfrm>
          <a:prstGeom prst="rect">
            <a:avLst/>
          </a:prstGeom>
        </p:spPr>
      </p:pic>
      <p:cxnSp>
        <p:nvCxnSpPr>
          <p:cNvPr id="9" name="Straight Connector 8">
            <a:extLst>
              <a:ext uri="{FF2B5EF4-FFF2-40B4-BE49-F238E27FC236}">
                <a16:creationId xmlns:a16="http://schemas.microsoft.com/office/drawing/2014/main" id="{189B2EA7-F881-119F-1A31-E57E8AB9671B}"/>
              </a:ext>
            </a:extLst>
          </p:cNvPr>
          <p:cNvCxnSpPr>
            <a:cxnSpLocks/>
          </p:cNvCxnSpPr>
          <p:nvPr/>
        </p:nvCxnSpPr>
        <p:spPr>
          <a:xfrm>
            <a:off x="8078504" y="3257928"/>
            <a:ext cx="0" cy="2140549"/>
          </a:xfrm>
          <a:prstGeom prst="line">
            <a:avLst/>
          </a:prstGeom>
          <a:ln w="22225"/>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C9F43656-97F4-474D-331E-D6B782386866}"/>
              </a:ext>
            </a:extLst>
          </p:cNvPr>
          <p:cNvSpPr txBox="1"/>
          <p:nvPr/>
        </p:nvSpPr>
        <p:spPr>
          <a:xfrm>
            <a:off x="10747375" y="3117841"/>
            <a:ext cx="686972" cy="253916"/>
          </a:xfrm>
          <a:prstGeom prst="rect">
            <a:avLst/>
          </a:prstGeom>
          <a:noFill/>
        </p:spPr>
        <p:txBody>
          <a:bodyPr wrap="square" rtlCol="0">
            <a:spAutoFit/>
          </a:bodyPr>
          <a:lstStyle/>
          <a:p>
            <a:r>
              <a:rPr lang="en-US" sz="1050" dirty="0"/>
              <a:t>Numbers</a:t>
            </a:r>
          </a:p>
        </p:txBody>
      </p:sp>
      <p:sp>
        <p:nvSpPr>
          <p:cNvPr id="14" name="TextBox 13">
            <a:extLst>
              <a:ext uri="{FF2B5EF4-FFF2-40B4-BE49-F238E27FC236}">
                <a16:creationId xmlns:a16="http://schemas.microsoft.com/office/drawing/2014/main" id="{2B5BB02A-E1AC-222B-5F8F-AD6DD88317B7}"/>
              </a:ext>
            </a:extLst>
          </p:cNvPr>
          <p:cNvSpPr txBox="1"/>
          <p:nvPr/>
        </p:nvSpPr>
        <p:spPr>
          <a:xfrm>
            <a:off x="10698612" y="4993683"/>
            <a:ext cx="686972" cy="253916"/>
          </a:xfrm>
          <a:prstGeom prst="rect">
            <a:avLst/>
          </a:prstGeom>
          <a:noFill/>
        </p:spPr>
        <p:txBody>
          <a:bodyPr wrap="square" rtlCol="0">
            <a:spAutoFit/>
          </a:bodyPr>
          <a:lstStyle/>
          <a:p>
            <a:r>
              <a:rPr lang="en-US" sz="1050" dirty="0"/>
              <a:t>Numbers</a:t>
            </a:r>
          </a:p>
        </p:txBody>
      </p:sp>
      <p:sp>
        <p:nvSpPr>
          <p:cNvPr id="16" name="TextBox 15">
            <a:extLst>
              <a:ext uri="{FF2B5EF4-FFF2-40B4-BE49-F238E27FC236}">
                <a16:creationId xmlns:a16="http://schemas.microsoft.com/office/drawing/2014/main" id="{C16F7D4F-B821-3A13-6322-620F8CB651C2}"/>
              </a:ext>
            </a:extLst>
          </p:cNvPr>
          <p:cNvSpPr txBox="1"/>
          <p:nvPr/>
        </p:nvSpPr>
        <p:spPr>
          <a:xfrm>
            <a:off x="6739067" y="2657063"/>
            <a:ext cx="2977432" cy="469359"/>
          </a:xfrm>
          <a:prstGeom prst="rect">
            <a:avLst/>
          </a:prstGeom>
          <a:noFill/>
        </p:spPr>
        <p:txBody>
          <a:bodyPr wrap="square" rtlCol="0">
            <a:spAutoFit/>
          </a:bodyPr>
          <a:lstStyle/>
          <a:p>
            <a:pPr algn="ctr"/>
            <a:r>
              <a:rPr lang="en-US" sz="1050" dirty="0"/>
              <a:t>Factors that influence Fatalities in Terrorist Events</a:t>
            </a:r>
          </a:p>
          <a:p>
            <a:pPr algn="ctr"/>
            <a:r>
              <a:rPr lang="en-US" sz="1050" dirty="0"/>
              <a:t>(Most </a:t>
            </a:r>
            <a:r>
              <a:rPr lang="en-US" sz="1400" dirty="0"/>
              <a:t>important</a:t>
            </a:r>
            <a:r>
              <a:rPr lang="en-US" sz="1050" dirty="0"/>
              <a:t> to least important)</a:t>
            </a:r>
          </a:p>
        </p:txBody>
      </p:sp>
      <p:sp>
        <p:nvSpPr>
          <p:cNvPr id="17" name="Oval 16">
            <a:extLst>
              <a:ext uri="{FF2B5EF4-FFF2-40B4-BE49-F238E27FC236}">
                <a16:creationId xmlns:a16="http://schemas.microsoft.com/office/drawing/2014/main" id="{F3D482A1-DF96-EB8B-0030-39D5CD724007}"/>
              </a:ext>
            </a:extLst>
          </p:cNvPr>
          <p:cNvSpPr/>
          <p:nvPr/>
        </p:nvSpPr>
        <p:spPr>
          <a:xfrm>
            <a:off x="7888703" y="3673791"/>
            <a:ext cx="1090894" cy="461665"/>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Connector 18">
            <a:extLst>
              <a:ext uri="{FF2B5EF4-FFF2-40B4-BE49-F238E27FC236}">
                <a16:creationId xmlns:a16="http://schemas.microsoft.com/office/drawing/2014/main" id="{07725B74-C874-68DE-DF05-B6DECDC41E87}"/>
              </a:ext>
            </a:extLst>
          </p:cNvPr>
          <p:cNvCxnSpPr>
            <a:cxnSpLocks/>
          </p:cNvCxnSpPr>
          <p:nvPr/>
        </p:nvCxnSpPr>
        <p:spPr>
          <a:xfrm flipV="1">
            <a:off x="5688459" y="3956050"/>
            <a:ext cx="2200244" cy="87535"/>
          </a:xfrm>
          <a:prstGeom prst="line">
            <a:avLst/>
          </a:prstGeom>
          <a:ln w="22225">
            <a:solidFill>
              <a:srgbClr val="FF0000"/>
            </a:solidFill>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3270470A-097A-3F26-1C77-37B1F811B070}"/>
              </a:ext>
            </a:extLst>
          </p:cNvPr>
          <p:cNvSpPr txBox="1"/>
          <p:nvPr/>
        </p:nvSpPr>
        <p:spPr>
          <a:xfrm>
            <a:off x="4692136" y="3762270"/>
            <a:ext cx="1055394" cy="553998"/>
          </a:xfrm>
          <a:prstGeom prst="rect">
            <a:avLst/>
          </a:prstGeom>
          <a:noFill/>
        </p:spPr>
        <p:txBody>
          <a:bodyPr wrap="square" rtlCol="0">
            <a:spAutoFit/>
          </a:bodyPr>
          <a:lstStyle/>
          <a:p>
            <a:r>
              <a:rPr lang="en-US" sz="1000" dirty="0"/>
              <a:t>Closer to the equator = high fatality odds</a:t>
            </a:r>
          </a:p>
        </p:txBody>
      </p:sp>
      <p:sp>
        <p:nvSpPr>
          <p:cNvPr id="23" name="Rectangle 22">
            <a:extLst>
              <a:ext uri="{FF2B5EF4-FFF2-40B4-BE49-F238E27FC236}">
                <a16:creationId xmlns:a16="http://schemas.microsoft.com/office/drawing/2014/main" id="{01E73F7E-CA2C-4AC0-F192-CBF20DDC330A}"/>
              </a:ext>
            </a:extLst>
          </p:cNvPr>
          <p:cNvSpPr/>
          <p:nvPr/>
        </p:nvSpPr>
        <p:spPr>
          <a:xfrm>
            <a:off x="4641850" y="3762270"/>
            <a:ext cx="1055394" cy="66368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5F7D9B39-9C60-1402-C44E-360DAA6F80F5}"/>
              </a:ext>
            </a:extLst>
          </p:cNvPr>
          <p:cNvSpPr txBox="1"/>
          <p:nvPr/>
        </p:nvSpPr>
        <p:spPr>
          <a:xfrm>
            <a:off x="5893694" y="3433271"/>
            <a:ext cx="972927" cy="276999"/>
          </a:xfrm>
          <a:prstGeom prst="rect">
            <a:avLst/>
          </a:prstGeom>
          <a:solidFill>
            <a:schemeClr val="bg1"/>
          </a:solidFill>
        </p:spPr>
        <p:txBody>
          <a:bodyPr wrap="square" rtlCol="0">
            <a:spAutoFit/>
          </a:bodyPr>
          <a:lstStyle/>
          <a:p>
            <a:r>
              <a:rPr lang="en-US" sz="1200" dirty="0">
                <a:solidFill>
                  <a:srgbClr val="545454"/>
                </a:solidFill>
              </a:rPr>
              <a:t>Wounded</a:t>
            </a:r>
          </a:p>
        </p:txBody>
      </p:sp>
      <p:sp>
        <p:nvSpPr>
          <p:cNvPr id="26" name="TextBox 25">
            <a:extLst>
              <a:ext uri="{FF2B5EF4-FFF2-40B4-BE49-F238E27FC236}">
                <a16:creationId xmlns:a16="http://schemas.microsoft.com/office/drawing/2014/main" id="{E390095D-578A-0F21-3B23-5E859C77E83B}"/>
              </a:ext>
            </a:extLst>
          </p:cNvPr>
          <p:cNvSpPr txBox="1"/>
          <p:nvPr/>
        </p:nvSpPr>
        <p:spPr>
          <a:xfrm>
            <a:off x="6051683" y="3719653"/>
            <a:ext cx="686972" cy="253916"/>
          </a:xfrm>
          <a:prstGeom prst="rect">
            <a:avLst/>
          </a:prstGeom>
          <a:solidFill>
            <a:schemeClr val="bg1"/>
          </a:solidFill>
        </p:spPr>
        <p:txBody>
          <a:bodyPr wrap="square" rtlCol="0">
            <a:spAutoFit/>
          </a:bodyPr>
          <a:lstStyle/>
          <a:p>
            <a:r>
              <a:rPr lang="en-US" sz="1050" dirty="0">
                <a:solidFill>
                  <a:srgbClr val="545454"/>
                </a:solidFill>
              </a:rPr>
              <a:t>Latitude</a:t>
            </a:r>
          </a:p>
        </p:txBody>
      </p:sp>
      <p:sp>
        <p:nvSpPr>
          <p:cNvPr id="28" name="TextBox 27">
            <a:extLst>
              <a:ext uri="{FF2B5EF4-FFF2-40B4-BE49-F238E27FC236}">
                <a16:creationId xmlns:a16="http://schemas.microsoft.com/office/drawing/2014/main" id="{8E3F7A4B-26FD-BB62-2BD9-BC1B382FBC08}"/>
              </a:ext>
            </a:extLst>
          </p:cNvPr>
          <p:cNvSpPr txBox="1"/>
          <p:nvPr/>
        </p:nvSpPr>
        <p:spPr>
          <a:xfrm>
            <a:off x="6225719" y="4075780"/>
            <a:ext cx="686972" cy="253916"/>
          </a:xfrm>
          <a:prstGeom prst="rect">
            <a:avLst/>
          </a:prstGeom>
          <a:solidFill>
            <a:schemeClr val="bg1"/>
          </a:solidFill>
        </p:spPr>
        <p:txBody>
          <a:bodyPr wrap="square" rtlCol="0">
            <a:spAutoFit/>
          </a:bodyPr>
          <a:lstStyle/>
          <a:p>
            <a:r>
              <a:rPr lang="en-US" sz="1050" dirty="0">
                <a:solidFill>
                  <a:srgbClr val="545454"/>
                </a:solidFill>
              </a:rPr>
              <a:t>Year</a:t>
            </a:r>
          </a:p>
        </p:txBody>
      </p:sp>
      <p:sp>
        <p:nvSpPr>
          <p:cNvPr id="30" name="TextBox 29">
            <a:extLst>
              <a:ext uri="{FF2B5EF4-FFF2-40B4-BE49-F238E27FC236}">
                <a16:creationId xmlns:a16="http://schemas.microsoft.com/office/drawing/2014/main" id="{8967DFC5-52B2-99E5-F789-5AE7BCD98136}"/>
              </a:ext>
            </a:extLst>
          </p:cNvPr>
          <p:cNvSpPr txBox="1"/>
          <p:nvPr/>
        </p:nvSpPr>
        <p:spPr>
          <a:xfrm>
            <a:off x="5920737" y="4385139"/>
            <a:ext cx="751027" cy="253916"/>
          </a:xfrm>
          <a:prstGeom prst="rect">
            <a:avLst/>
          </a:prstGeom>
          <a:solidFill>
            <a:schemeClr val="bg1"/>
          </a:solidFill>
        </p:spPr>
        <p:txBody>
          <a:bodyPr wrap="square" rtlCol="0">
            <a:spAutoFit/>
          </a:bodyPr>
          <a:lstStyle/>
          <a:p>
            <a:r>
              <a:rPr lang="en-US" sz="1050" dirty="0">
                <a:solidFill>
                  <a:srgbClr val="545454"/>
                </a:solidFill>
              </a:rPr>
              <a:t>Longitude</a:t>
            </a:r>
          </a:p>
        </p:txBody>
      </p:sp>
      <p:sp>
        <p:nvSpPr>
          <p:cNvPr id="32" name="TextBox 31">
            <a:extLst>
              <a:ext uri="{FF2B5EF4-FFF2-40B4-BE49-F238E27FC236}">
                <a16:creationId xmlns:a16="http://schemas.microsoft.com/office/drawing/2014/main" id="{E846F3E7-EFF5-5199-D9E3-9A47FF0BE00E}"/>
              </a:ext>
            </a:extLst>
          </p:cNvPr>
          <p:cNvSpPr txBox="1"/>
          <p:nvPr/>
        </p:nvSpPr>
        <p:spPr>
          <a:xfrm>
            <a:off x="6126480" y="4723552"/>
            <a:ext cx="686972" cy="253916"/>
          </a:xfrm>
          <a:prstGeom prst="rect">
            <a:avLst/>
          </a:prstGeom>
          <a:solidFill>
            <a:schemeClr val="bg1"/>
          </a:solidFill>
        </p:spPr>
        <p:txBody>
          <a:bodyPr wrap="square" rtlCol="0">
            <a:spAutoFit/>
          </a:bodyPr>
          <a:lstStyle/>
          <a:p>
            <a:r>
              <a:rPr lang="en-US" sz="1050" dirty="0">
                <a:solidFill>
                  <a:srgbClr val="545454"/>
                </a:solidFill>
              </a:rPr>
              <a:t>Month</a:t>
            </a:r>
          </a:p>
        </p:txBody>
      </p:sp>
    </p:spTree>
    <p:extLst>
      <p:ext uri="{BB962C8B-B14F-4D97-AF65-F5344CB8AC3E}">
        <p14:creationId xmlns:p14="http://schemas.microsoft.com/office/powerpoint/2010/main" val="18070648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5C8CF-931D-7EF4-ED9E-5310633D900C}"/>
              </a:ext>
            </a:extLst>
          </p:cNvPr>
          <p:cNvSpPr>
            <a:spLocks noGrp="1"/>
          </p:cNvSpPr>
          <p:nvPr>
            <p:ph type="title"/>
          </p:nvPr>
        </p:nvSpPr>
        <p:spPr/>
        <p:txBody>
          <a:bodyPr/>
          <a:lstStyle/>
          <a:p>
            <a:r>
              <a:rPr lang="en-US" b="1" dirty="0"/>
              <a:t>Recommendation</a:t>
            </a:r>
          </a:p>
        </p:txBody>
      </p:sp>
      <p:sp>
        <p:nvSpPr>
          <p:cNvPr id="3" name="Content Placeholder 2">
            <a:extLst>
              <a:ext uri="{FF2B5EF4-FFF2-40B4-BE49-F238E27FC236}">
                <a16:creationId xmlns:a16="http://schemas.microsoft.com/office/drawing/2014/main" id="{BA6B76D8-77EE-B772-8E58-7B8CF498C8B2}"/>
              </a:ext>
            </a:extLst>
          </p:cNvPr>
          <p:cNvSpPr>
            <a:spLocks noGrp="1"/>
          </p:cNvSpPr>
          <p:nvPr>
            <p:ph idx="1"/>
          </p:nvPr>
        </p:nvSpPr>
        <p:spPr/>
        <p:txBody>
          <a:bodyPr>
            <a:normAutofit/>
          </a:bodyPr>
          <a:lstStyle/>
          <a:p>
            <a:pPr marL="0" indent="0">
              <a:buNone/>
            </a:pPr>
            <a:r>
              <a:rPr lang="en-US" dirty="0"/>
              <a:t>Colombia: throw every resource available at it or give it the Maduro treatment.</a:t>
            </a:r>
          </a:p>
          <a:p>
            <a:pPr marL="0" indent="0">
              <a:buNone/>
            </a:pPr>
            <a:r>
              <a:rPr lang="en-US" dirty="0"/>
              <a:t>- Increase emergency responders, community programs, and monitoring efforts</a:t>
            </a:r>
          </a:p>
          <a:p>
            <a:pPr>
              <a:buFontTx/>
              <a:buChar char="-"/>
            </a:pPr>
            <a:endParaRPr lang="en-US" dirty="0"/>
          </a:p>
          <a:p>
            <a:pPr marL="0" indent="0">
              <a:buNone/>
            </a:pPr>
            <a:r>
              <a:rPr lang="en-US" dirty="0"/>
              <a:t>North America: Increase awareness and monitoring capabilities. </a:t>
            </a:r>
          </a:p>
          <a:p>
            <a:pPr marL="0" indent="0">
              <a:buNone/>
            </a:pPr>
            <a:r>
              <a:rPr lang="en-US" dirty="0"/>
              <a:t>- Casualty counts are typically lower in these areas, but monitoring and proactive programs aimed at preventing incidents will keep numbers and density lower. </a:t>
            </a:r>
          </a:p>
          <a:p>
            <a:pPr>
              <a:buFont typeface="Wingdings" panose="05000000000000000000" pitchFamily="2" charset="2"/>
              <a:buChar char="n"/>
            </a:pPr>
            <a:endParaRPr lang="en-US" dirty="0"/>
          </a:p>
          <a:p>
            <a:pPr marL="0" indent="0">
              <a:buNone/>
            </a:pPr>
            <a:r>
              <a:rPr lang="en-US" dirty="0"/>
              <a:t>Risks: Casualty counts will increase without the commitment of resources to counter the positive incident trends shown in our </a:t>
            </a:r>
            <a:r>
              <a:rPr lang="en-US" dirty="0" err="1"/>
              <a:t>analysis.git</a:t>
            </a:r>
            <a:r>
              <a:rPr lang="en-US"/>
              <a:t> </a:t>
            </a:r>
            <a:endParaRPr lang="en-US" dirty="0"/>
          </a:p>
          <a:p>
            <a:pPr marL="0" indent="0">
              <a:buNone/>
            </a:pPr>
            <a:endParaRPr lang="en-US" dirty="0"/>
          </a:p>
          <a:p>
            <a:pPr marL="0" indent="0">
              <a:buNone/>
            </a:pPr>
            <a:endParaRPr lang="en-US" dirty="0"/>
          </a:p>
        </p:txBody>
      </p:sp>
    </p:spTree>
    <p:extLst>
      <p:ext uri="{BB962C8B-B14F-4D97-AF65-F5344CB8AC3E}">
        <p14:creationId xmlns:p14="http://schemas.microsoft.com/office/powerpoint/2010/main" val="2987501489"/>
      </p:ext>
    </p:extLst>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TM02900769[[fn=Retrospect]]</Template>
  <TotalTime>593</TotalTime>
  <Words>690</Words>
  <Application>Microsoft Office PowerPoint</Application>
  <PresentationFormat>Widescreen</PresentationFormat>
  <Paragraphs>61</Paragraphs>
  <Slides>6</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Aptos</vt:lpstr>
      <vt:lpstr>Calibri</vt:lpstr>
      <vt:lpstr>Calibri Light</vt:lpstr>
      <vt:lpstr>Wingdings</vt:lpstr>
      <vt:lpstr>Retrospect</vt:lpstr>
      <vt:lpstr>“Volunteers” </vt:lpstr>
      <vt:lpstr>PowerPoint Presentation</vt:lpstr>
      <vt:lpstr>Question: How frequent are terrorism events?</vt:lpstr>
      <vt:lpstr>PowerPoint Presentation</vt:lpstr>
      <vt:lpstr>SHAPiro      Fatality Influencers *Model = RandomForestClassifer (No matter how deep,  SHAPiro never split on the Left) </vt:lpstr>
      <vt:lpstr>Recommendation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Andrew Griffith</dc:creator>
  <cp:lastModifiedBy>Andrew Griffith</cp:lastModifiedBy>
  <cp:revision>17</cp:revision>
  <dcterms:created xsi:type="dcterms:W3CDTF">2026-07-09T21:22:30Z</dcterms:created>
  <dcterms:modified xsi:type="dcterms:W3CDTF">2026-07-10T16:21:21Z</dcterms:modified>
</cp:coreProperties>
</file>